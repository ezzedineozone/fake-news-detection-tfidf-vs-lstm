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70" r:id="rId4"/>
    <p:sldId id="259" r:id="rId5"/>
    <p:sldId id="271" r:id="rId6"/>
    <p:sldId id="261" r:id="rId7"/>
    <p:sldId id="272" r:id="rId8"/>
    <p:sldId id="263" r:id="rId9"/>
    <p:sldId id="264" r:id="rId10"/>
    <p:sldId id="273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2E"/>
                </a:solidFill>
                <a:latin typeface="Georgia"/>
              </a:defRPr>
            </a:pPr>
            <a:r>
              <a:rPr lang="en-GB" sz="1300" b="0" i="0" u="none" strike="noStrike">
                <a:solidFill>
                  <a:srgbClr val="1A1F2E"/>
                </a:solidFill>
                <a:latin typeface="Georgia"/>
              </a:rPr>
              <a:t>Test F1 score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4B5563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BA-4872-ABD1-74F5C6B8DB35}"/>
              </c:ext>
            </c:extLst>
          </c:dPt>
          <c:dPt>
            <c:idx val="1"/>
            <c:invertIfNegative val="0"/>
            <c:bubble3D val="0"/>
            <c:spPr>
              <a:solidFill>
                <a:srgbClr val="D1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BA-4872-ABD1-74F5C6B8DB35}"/>
              </c:ext>
            </c:extLst>
          </c:dPt>
          <c:dPt>
            <c:idx val="2"/>
            <c:invertIfNegative val="0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BA-4872-ABD1-74F5C6B8DB35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BA-4872-ABD1-74F5C6B8DB35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BA-4872-ABD1-74F5C6B8DB35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2E"/>
                    </a:solidFill>
                    <a:latin typeface="Calibri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BiLSTM</c:v>
                </c:pt>
                <c:pt idx="2">
                  <c:v>XGBoost</c:v>
                </c:pt>
                <c:pt idx="3">
                  <c:v>Linear SVM</c:v>
                </c:pt>
                <c:pt idx="4">
                  <c:v>Logistic 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0.9385</c:v>
                </c:pt>
                <c:pt idx="1">
                  <c:v>0.95889999999999997</c:v>
                </c:pt>
                <c:pt idx="2">
                  <c:v>0.97489999999999999</c:v>
                </c:pt>
                <c:pt idx="3">
                  <c:v>0.9819</c:v>
                </c:pt>
                <c:pt idx="4">
                  <c:v>0.9819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BA-4872-ABD1-74F5C6B8DB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2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2E"/>
                </a:solidFill>
                <a:latin typeface="Georgia"/>
              </a:defRPr>
            </a:pPr>
            <a:r>
              <a:rPr lang="en-GB" sz="1300" b="0" i="0" u="none" strike="noStrike">
                <a:solidFill>
                  <a:srgbClr val="1A1F2E"/>
                </a:solidFill>
                <a:latin typeface="Georgia"/>
              </a:rPr>
              <a:t>Training vs Validation 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0.22700000000000001</c:v>
                </c:pt>
                <c:pt idx="1">
                  <c:v>5.1999999999999998E-2</c:v>
                </c:pt>
                <c:pt idx="2">
                  <c:v>2.4E-2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63-4DCF-B481-AB1471D898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8100" cap="flat">
              <a:solidFill>
                <a:srgbClr val="D1454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D14545"/>
              </a:solidFill>
              <a:ln w="9525" cap="flat">
                <a:solidFill>
                  <a:srgbClr val="D1454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0.104</c:v>
                </c:pt>
                <c:pt idx="1">
                  <c:v>0.11700000000000001</c:v>
                </c:pt>
                <c:pt idx="2">
                  <c:v>0.14599999999999999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63-4DCF-B481-AB1471D898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52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 news detection on the William Lifferth corpus: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comparative study of classical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54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recurrent classifiers.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54864" cy="2194560"/>
          </a:xfrm>
          <a:prstGeom prst="rect">
            <a:avLst/>
          </a:prstGeom>
          <a:solidFill>
            <a:srgbClr val="D14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NB, Logistic Regression, Linear SVM, XGBoost, and a Bidirectional LSTM, evaluated under common conditions.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486400"/>
            <a:ext cx="109728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Lebanese American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78815" y="1792224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Given the same corpus, the same evaluation protocol, and careful hyperparameter tuning on both sides, does a BiLSTM outperform a Logistic Regression baseline at fake news detection?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comparative studies omit cross-validated hyperparameter selection.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deduplication and paired statistical tests are inconsistently reported.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these controls, reported gaps may not be attributable to model class.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100" name="Text 13"/>
          <p:cNvSpPr/>
          <p:nvPr/>
        </p:nvSpPr>
        <p:spPr>
          <a:xfrm>
            <a:off x="731520" y="5664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01" name="Text 14"/>
          <p:cNvSpPr/>
          <p:nvPr/>
        </p:nvSpPr>
        <p:spPr>
          <a:xfrm>
            <a:off x="1371600" y="5664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simplicity wins—a well-tuned linear model can match or beat heavier architectures.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565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20,543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~50/50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0896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split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tokens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article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William Lifferth Kaggle corpus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0" y="2514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news articles from a public Kaggle competition. We use a verified GitHub mirror of the original training file.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295900"/>
            <a:ext cx="10972800" cy="1117600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731520" y="5295900"/>
            <a:ext cx="73152" cy="1117600"/>
          </a:xfrm>
          <a:prstGeom prst="rect">
            <a:avLst/>
          </a:prstGeom>
          <a:solidFill>
            <a:srgbClr val="D14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1051560" y="5435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asymmetry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57150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articles cluster around 0–100 words; real articles span 200–1500. To prevent length itself from acting as a feature, models receive only cleaned text without explicit length statistics.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00" name="Text R2N0"/>
          <p:cNvSpPr/>
          <p:nvPr/>
        </p:nvSpPr>
        <p:spPr>
          <a:xfrm>
            <a:off x="736600" y="3873500"/>
            <a:ext cx="228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16,434 / 4,109</a:t>
            </a:r>
            <a:endParaRPr lang="en-US" sz="3000" dirty="0"/>
          </a:p>
        </p:txBody>
      </p:sp>
      <p:sp>
        <p:nvSpPr>
          <p:cNvPr id="201" name="Text R2L0"/>
          <p:cNvSpPr/>
          <p:nvPr/>
        </p:nvSpPr>
        <p:spPr>
          <a:xfrm>
            <a:off x="736600" y="4635500"/>
            <a:ext cx="279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articles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(80/20 stratified)</a:t>
            </a:r>
            <a:endParaRPr lang="en-US" sz="1100" dirty="0"/>
          </a:p>
        </p:txBody>
      </p:sp>
      <p:sp>
        <p:nvSpPr>
          <p:cNvPr id="202" name="Text R2N1"/>
          <p:cNvSpPr/>
          <p:nvPr/>
        </p:nvSpPr>
        <p:spPr>
          <a:xfrm>
            <a:off x="3111500" y="3873500"/>
            <a:ext cx="228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fields</a:t>
            </a:r>
            <a:endParaRPr lang="en-US" sz="3000" dirty="0"/>
          </a:p>
        </p:txBody>
      </p:sp>
      <p:sp>
        <p:nvSpPr>
          <p:cNvPr id="203" name="Text R2L1"/>
          <p:cNvSpPr/>
          <p:nvPr/>
        </p:nvSpPr>
        <p:spPr>
          <a:xfrm>
            <a:off x="3111500" y="4635500"/>
            <a:ext cx="279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author,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author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features</a:t>
            </a:r>
            <a:endParaRPr lang="en-US" sz="1100" dirty="0"/>
          </a:p>
        </p:txBody>
      </p:sp>
      <p:sp>
        <p:nvSpPr>
          <p:cNvPr id="204" name="Text R2N2"/>
          <p:cNvSpPr/>
          <p:nvPr/>
        </p:nvSpPr>
        <p:spPr>
          <a:xfrm>
            <a:off x="5486400" y="3873500"/>
            <a:ext cx="228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20,800 → 20,543</a:t>
            </a:r>
            <a:endParaRPr lang="en-US" sz="3000" dirty="0"/>
          </a:p>
        </p:txBody>
      </p:sp>
      <p:sp>
        <p:nvSpPr>
          <p:cNvPr id="205" name="Text R2L2"/>
          <p:cNvSpPr/>
          <p:nvPr/>
        </p:nvSpPr>
        <p:spPr>
          <a:xfrm>
            <a:off x="5486400" y="4635500"/>
            <a:ext cx="279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size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(170 duplicates removed)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115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compared.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binary classifiers spanning generative, linear, ensemble, and recurrent classes, evaluated on identical training and test partitions.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8864" y="237744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508864" y="2377440"/>
            <a:ext cx="2103120" cy="22860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73456" y="27432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3456" y="30632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Multinomial NB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3456" y="46634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3456" y="4892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76576" y="237744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2776576" y="2377440"/>
            <a:ext cx="210312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941168" y="27432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41168" y="30632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41168" y="46634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41168" y="4892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4288" y="237744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5044288" y="2377440"/>
            <a:ext cx="210312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5208880" y="27432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8880" y="30632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SVM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208880" y="46634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08880" y="4892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2000" y="237744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7312000" y="2377440"/>
            <a:ext cx="2103120" cy="22860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7476592" y="27432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76592" y="30632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76592" y="46634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76592" y="4892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79712" y="237744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>
            <a:off x="9579712" y="2377440"/>
            <a:ext cx="2103120" cy="228600"/>
          </a:xfrm>
          <a:prstGeom prst="rect">
            <a:avLst/>
          </a:prstGeom>
          <a:solidFill>
            <a:srgbClr val="D14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9744304" y="27432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/ RNN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44304" y="30632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LSTM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744304" y="46634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744304" y="4892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SEQ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tuned by 5-fold stratified CV on the training partition only.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pipeline.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32308" y="2194560"/>
            <a:ext cx="15544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3230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2308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20,800 articles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Kaggle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(Lifferth, 2018)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23364" y="2971800"/>
            <a:ext cx="246888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2506828" y="2194560"/>
            <a:ext cx="15544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50682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Dedupe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06828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URLs/punct/digits,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stopwords, Porter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stem; dedupe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97884" y="2971800"/>
            <a:ext cx="246888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4381348" y="2194560"/>
            <a:ext cx="15544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38134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stratified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1348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16,434 train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4,109 test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72404" y="2971800"/>
            <a:ext cx="246888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6255868" y="2194560"/>
            <a:ext cx="15544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25586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5868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(1–2 grams,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 features) 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sequences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(MAX_LEN=500)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46924" y="2971800"/>
            <a:ext cx="246888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8130388" y="2194560"/>
            <a:ext cx="15544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813038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5-fold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0388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stratified, F1 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fold;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721444" y="2971800"/>
            <a:ext cx="246888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10004908" y="2194560"/>
            <a:ext cx="15544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1000490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Held-out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04908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4,109 articles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model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4937760"/>
            <a:ext cx="10972800" cy="1097280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731520" y="493776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1051560" y="5029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COMPARISON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 systems are compared via McNemar’s exact paired test on the test-set predictions.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6743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Test-set performance.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82880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95528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55280" y="2286000"/>
            <a:ext cx="22860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79552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and SVM are tied.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achieve test F1 = 0.9819.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3200400"/>
            <a:ext cx="22860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795528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F1 = 0.9749.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5528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0.7 points below the linear leaders.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55280" y="4114800"/>
            <a:ext cx="22860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795528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BiLSTM: F1 = 0.9589.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2.3 points below the linear leaders.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5280" y="5029200"/>
            <a:ext cx="22860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7955280" y="5120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 F1 = 0.9385.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0" y="5440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but distinct lower bound on this corpus.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McNemar test: LR vs. Linear SVM.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1689100"/>
            <a:ext cx="106984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 compares two classifiers on the SAME test articles by examining their disagreements.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are the disagreements symmetric (models equivalent) or systematically one-sided (one is better)?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2603500"/>
            <a:ext cx="18288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822960" y="26035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603500"/>
            <a:ext cx="1828800" cy="660400"/>
          </a:xfrm>
          <a:prstGeom prst="rect">
            <a:avLst/>
          </a:prstGeom>
          <a:solidFill>
            <a:srgbClr val="F8F5F0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651760" y="26035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correct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603500"/>
            <a:ext cx="1828800" cy="660400"/>
          </a:xfrm>
          <a:prstGeom prst="rect">
            <a:avLst/>
          </a:prstGeom>
          <a:solidFill>
            <a:srgbClr val="F8F5F0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480560" y="26035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wrong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263900"/>
            <a:ext cx="1828800" cy="660400"/>
          </a:xfrm>
          <a:prstGeom prst="rect">
            <a:avLst/>
          </a:prstGeom>
          <a:solidFill>
            <a:srgbClr val="F8F5F0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822960" y="32639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correct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3263900"/>
            <a:ext cx="18288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2651760" y="32639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4030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480560" y="3263900"/>
            <a:ext cx="1828800" cy="660400"/>
          </a:xfrm>
          <a:prstGeom prst="rect">
            <a:avLst/>
          </a:prstGeom>
          <a:solidFill>
            <a:srgbClr val="FCE7E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480560" y="32639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1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" y="3924300"/>
            <a:ext cx="1828800" cy="660400"/>
          </a:xfrm>
          <a:prstGeom prst="rect">
            <a:avLst/>
          </a:prstGeom>
          <a:solidFill>
            <a:srgbClr val="F8F5F0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822960" y="39243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wrong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3924300"/>
            <a:ext cx="1828800" cy="660400"/>
          </a:xfrm>
          <a:prstGeom prst="rect">
            <a:avLst/>
          </a:prstGeom>
          <a:solidFill>
            <a:srgbClr val="FCE7E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2651760" y="39243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1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480560" y="3924300"/>
            <a:ext cx="18288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480560" y="3924300"/>
            <a:ext cx="182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2540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819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McNemar = 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9440" y="378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(exact binomial)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4064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≈ 1.000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31520" y="5212080"/>
            <a:ext cx="10972800" cy="86868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731520" y="5212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we cannot distinguish LR from Linear SVM on this corpus.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0.0014 F1 difference between them lies within sampling noise.</a:t>
            </a:r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00" name="Table Label"/>
          <p:cNvSpPr/>
          <p:nvPr/>
        </p:nvSpPr>
        <p:spPr>
          <a:xfrm>
            <a:off x="825500" y="2260600"/>
            <a:ext cx="548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74151"/>
                </a:solidFill>
                <a:latin typeface="Calibri" pitchFamily="34" charset="0"/>
              </a:rPr>
              <a:t>CONTINGENCY OF DISAGREEMENTS  ·  N = 4,109</a:t>
            </a:r>
          </a:p>
        </p:txBody>
      </p:sp>
      <p:sp>
        <p:nvSpPr>
          <p:cNvPr id="301" name="Table Caption"/>
          <p:cNvSpPr/>
          <p:nvPr/>
        </p:nvSpPr>
        <p:spPr>
          <a:xfrm>
            <a:off x="825500" y="4673600"/>
            <a:ext cx="548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</a:rPr>
              <a:t>Read the table: of 4,109 test articles, both models agreed on 4,101 (4030 both correct + 71 both wrong). They disagreed on only 8 articles — 4 each way. McNemar's test asks whether 4-vs-4 is consistent with chance.</a:t>
            </a:r>
          </a:p>
        </p:txBody>
      </p:sp>
      <p:sp>
        <p:nvSpPr>
          <p:cNvPr id="302" name="McNemar explain"/>
          <p:cNvSpPr/>
          <p:nvPr/>
        </p:nvSpPr>
        <p:spPr>
          <a:xfrm>
            <a:off x="6946900" y="3403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</a:rPr>
              <a:t>the smaller off-diagonal count</a:t>
            </a:r>
          </a:p>
        </p:txBody>
      </p:sp>
      <p:sp>
        <p:nvSpPr>
          <p:cNvPr id="303" name="Pvalue explain"/>
          <p:cNvSpPr/>
          <p:nvPr/>
        </p:nvSpPr>
        <p:spPr>
          <a:xfrm>
            <a:off x="6946900" y="4648200"/>
            <a:ext cx="457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</a:rPr>
              <a:t>probability of seeing a 4-vs-4 split (or more extreme) if the two models truly had equal error rates</a:t>
            </a:r>
          </a:p>
        </p:txBody>
      </p:sp>
    </p:spTree>
    <p:extLst>
      <p:ext uri="{BB962C8B-B14F-4D97-AF65-F5344CB8AC3E}">
        <p14:creationId xmlns:p14="http://schemas.microsoft.com/office/powerpoint/2010/main" val="2711778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BiLSTM training trajectory.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87452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95528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1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loss diverges from epoch 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0.227 → 0.024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(10× decrease)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0" y="3474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0.104 → 0.146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5528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(40% increase)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≈0.96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95528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(constant)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triggered at epoch 4; best weights restored from epoch 1.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Interpreting the BiLSTM gap.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72288" y="2011680"/>
            <a:ext cx="3566160" cy="3657600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746608" y="22860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D1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46608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Bag-of-words is sufficient.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6608" y="4023360"/>
            <a:ext cx="45720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746608" y="42062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fake articles differ in lexical register: named entities, attribution verbs, and source vocabulary already separate the classes in TF-IDF space. Sequential structure adds no further signal.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12768" y="2011680"/>
            <a:ext cx="3566160" cy="3657600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587088" y="22860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D1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87088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Unfavourable parameter ratio.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87088" y="4023360"/>
            <a:ext cx="45720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587088" y="42062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BiLSTM has approximately 1.7M trainable parameters against ~14k effective training examples. Linear models with ~20k regularised coefficients generalise more reliably under this n / p ratio.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3248" y="2011680"/>
            <a:ext cx="3566160" cy="3657600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8427568" y="22860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D1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427568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selected by hand.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27568" y="4023360"/>
            <a:ext cx="45720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8427568" y="42062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regularisation tunes the linear models’ effective complexity automatically. The BiLSTM’s capacity is fixed by architecture choices and was not exhaustively searched.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consistent across BiLSTM hyperparameter configurations explored, suggesting a property of the data rather than under-training.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diagnostics.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</a:rPr>
              <a:t>The most analytically interesting finding from iterative refinement: the BiLSTM overfits regardless of how it is regularised.</a:t>
            </a:r>
          </a:p>
        </p:txBody>
      </p:sp>
      <p:sp>
        <p:nvSpPr>
          <p:cNvPr id="35" name="Text 33"/>
          <p:cNvSpPr/>
          <p:nvPr/>
        </p:nvSpPr>
        <p:spPr>
          <a:xfrm>
            <a:off x="736600" y="59944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</a:rPr>
              <a:t>The pattern is robust to hyperparameter choice, suggesting it reflects a property of the data — that the bag-of-words representation already saturates the discriminative signal — rather than under-tuning of the recurrent model.</a:t>
            </a:r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400" name="Obs Header"/>
          <p:cNvSpPr/>
          <p:nvPr/>
        </p:nvSpPr>
        <p:spPr>
          <a:xfrm>
            <a:off x="736600" y="24130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74151"/>
                </a:solidFill>
                <a:latin typeface="Calibri" pitchFamily="34" charset="0"/>
              </a:rPr>
              <a:t>OBSERVATION</a:t>
            </a:r>
          </a:p>
        </p:txBody>
      </p:sp>
      <p:sp>
        <p:nvSpPr>
          <p:cNvPr id="401" name="Resp Header"/>
          <p:cNvSpPr/>
          <p:nvPr/>
        </p:nvSpPr>
        <p:spPr>
          <a:xfrm>
            <a:off x="6375400" y="24130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74151"/>
                </a:solidFill>
                <a:latin typeface="Calibri" pitchFamily="34" charset="0"/>
              </a:rPr>
              <a:t>RESPONSE</a:t>
            </a:r>
          </a:p>
        </p:txBody>
      </p:sp>
      <p:cxnSp>
        <p:nvCxnSpPr>
          <p:cNvPr id="402" name="Accent"/>
          <p:cNvCxnSpPr/>
          <p:nvPr/>
        </p:nvCxnSpPr>
        <p:spPr>
          <a:xfrm>
            <a:off x="736600" y="2743200"/>
            <a:ext cx="355600" cy="0"/>
          </a:xfrm>
          <a:prstGeom prst="line">
            <a:avLst/>
          </a:prstGeom>
          <a:ln w="6350">
            <a:solidFill>
              <a:srgbClr val="1A1F2E"/>
            </a:solidFill>
          </a:ln>
        </p:spPr>
      </p:cxnSp>
      <p:cxnSp>
        <p:nvCxnSpPr>
          <p:cNvPr id="403" name="Accent"/>
          <p:cNvCxnSpPr/>
          <p:nvPr/>
        </p:nvCxnSpPr>
        <p:spPr>
          <a:xfrm>
            <a:off x="6375400" y="2743200"/>
            <a:ext cx="355600" cy="0"/>
          </a:xfrm>
          <a:prstGeom prst="line">
            <a:avLst/>
          </a:prstGeom>
          <a:ln w="6350">
            <a:solidFill>
              <a:srgbClr val="1A1F2E"/>
            </a:solidFill>
          </a:ln>
        </p:spPr>
      </p:cxnSp>
      <p:sp>
        <p:nvSpPr>
          <p:cNvPr id="404" name="Obs Body"/>
          <p:cNvSpPr/>
          <p:nvPr/>
        </p:nvSpPr>
        <p:spPr>
          <a:xfrm>
            <a:off x="736600" y="2921000"/>
            <a:ext cx="508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</a:rPr>
              <a:t>Across every BiLSTM hyperparameter configuration explored — varying LSTM units (32 / 48 / 64), dropout rates (0.3 to 0.7), recurrent dropout (0 to 0.3), and learning rate (1e-3 to 5e-4) — validation loss began rising from epoch 1 while training loss continued to decrease.</a:t>
            </a:r>
          </a:p>
        </p:txBody>
      </p:sp>
      <p:sp>
        <p:nvSpPr>
          <p:cNvPr id="405" name="Resp Body"/>
          <p:cNvSpPr/>
          <p:nvPr/>
        </p:nvSpPr>
        <p:spPr>
          <a:xfrm>
            <a:off x="6375400" y="2921000"/>
            <a:ext cx="508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</a:rPr>
              <a:t>Reduced model capacity (64 → 48 LSTM units), increased dropout (0.5 → 0.6 between layers), added recurrent_dropout = 0.2 inside the LSTM cell, lowered learning rate (1e-3 → 5e-4), and added ReduceLROnPlateau. Validation loss trajectory improved modestly but the qualitative pattern persisted.</a:t>
            </a:r>
          </a:p>
        </p:txBody>
      </p:sp>
    </p:spTree>
    <p:extLst>
      <p:ext uri="{BB962C8B-B14F-4D97-AF65-F5344CB8AC3E}">
        <p14:creationId xmlns:p14="http://schemas.microsoft.com/office/powerpoint/2010/main" val="294072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615  · 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D14545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46888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baselines remain competitive.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68880" y="2651760"/>
            <a:ext cx="54864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468880" y="2788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on TF-IDF features achieved the best test-set performance on this corpus. Deep architectures should be benchmarked against a well-tuned linear baseline before improvement is claimed.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D14545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246888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testing is necessary, not optional.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68880" y="3977640"/>
            <a:ext cx="54864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468880" y="4114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paired test, the 0.0014 F1 difference between LR and SVM might be reported as a ranking; the test confirms it lies within sampling variation.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D14545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2468880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discipline matters as much as architecture.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468880" y="5303520"/>
            <a:ext cx="54864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2468880" y="5440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before splitting, cross-validated tuning, and instrumented training are simple but consequential controls that determine whether reported numbers are trustworthy.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· CSC 615 · Lebanese American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discussion.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5760" y="2377440"/>
            <a:ext cx="54864" cy="914400"/>
          </a:xfrm>
          <a:prstGeom prst="rect">
            <a:avLst/>
          </a:prstGeom>
          <a:solidFill>
            <a:srgbClr val="D14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code, and full diagnostic logs available on request.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5852160"/>
            <a:ext cx="1097280" cy="0"/>
          </a:xfrm>
          <a:prstGeom prst="line">
            <a:avLst/>
          </a:prstGeom>
          <a:noFill/>
          <a:ln w="19050">
            <a:solidFill>
              <a:srgbClr val="D145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Ezzedine Al Ozon  ·  CSC 615  ·  ezzedine.alozon@lau.edu.lb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EF0F78-9C5D-4154-B28F-65DC25366696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f34fbae-2cbc-42fe-8574-13f23cdc895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1341</Words>
  <Application>Microsoft Office PowerPoint</Application>
  <PresentationFormat>Widescreen</PresentationFormat>
  <Paragraphs>230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Detection: Classical vs Deep Learning</dc:title>
  <dc:subject>PptxGenJS Presentation</dc:subject>
  <dc:creator>Ezzedine Al Ozon</dc:creator>
  <cp:lastModifiedBy>Ezzedine Al Ozon</cp:lastModifiedBy>
  <cp:revision>2</cp:revision>
  <dcterms:created xsi:type="dcterms:W3CDTF">2026-04-27T19:18:18Z</dcterms:created>
  <dcterms:modified xsi:type="dcterms:W3CDTF">2026-04-27T19:34:03Z</dcterms:modified>
</cp:coreProperties>
</file>